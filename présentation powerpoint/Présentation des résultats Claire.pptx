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3A5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76" d="100"/>
          <a:sy n="76" d="100"/>
        </p:scale>
        <p:origin x="260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2BD3168-3044-44E3-B660-8967441117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FA7F2CAC-5594-4840-ADA1-4F0F058A18B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AFC5B94-A97F-4430-9C84-BE0F50E265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F7CC1-1E03-4F3A-AB27-DC309FA82821}" type="datetimeFigureOut">
              <a:rPr lang="fr-FR" smtClean="0"/>
              <a:t>03/07/2026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4926561-2B6E-4F71-8419-2F01F66E7B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C764162-13E7-428B-BE9B-F37C33E3C5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59004-B6F4-483C-B773-88B71CE0DD7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205301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0193247-803D-4579-ADE7-B1385A2B7F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7500479-E59B-45C3-9F22-B45F1E1BCF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4D8807E-8357-4330-AD33-7627C28666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F7CC1-1E03-4F3A-AB27-DC309FA82821}" type="datetimeFigureOut">
              <a:rPr lang="fr-FR" smtClean="0"/>
              <a:t>03/07/2026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D6E5913-CFAD-4A32-822E-503E296736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0283491-3B19-4137-8C3E-0E8E63F148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59004-B6F4-483C-B773-88B71CE0DD7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564251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8E63AC8-FED8-4D8E-8304-AB7F7D0494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2BDBA57D-74C1-47A1-B685-9509C899DF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6B80972-5D83-4270-A988-38845673A8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F7CC1-1E03-4F3A-AB27-DC309FA82821}" type="datetimeFigureOut">
              <a:rPr lang="fr-FR" smtClean="0"/>
              <a:t>03/07/2026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36AB4C9-B058-484A-A64E-B7ABE78B3C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E45042E-7959-4B56-9E0C-D2D3F181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59004-B6F4-483C-B773-88B71CE0DD7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989260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DB6AED8-CA17-4E41-88F4-26E871179D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0131E07-A12C-4C49-9001-1A6F8AD6AEF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B2226B1A-1E62-4066-94EB-884DFB69B5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14BE3BB4-EEF9-4BF8-8136-61ECAC3511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F7CC1-1E03-4F3A-AB27-DC309FA82821}" type="datetimeFigureOut">
              <a:rPr lang="fr-FR" smtClean="0"/>
              <a:t>03/07/2026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9CBCF515-03B5-41D2-9157-9F0A883177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69AD0C9B-3B16-4AB2-A7D0-55C2F09525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59004-B6F4-483C-B773-88B71CE0DD7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917817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C97CBBB-300C-4453-B62F-2F49A050B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F399C333-5C9B-4918-9D44-1A99FC07F5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A18CF41A-448F-4C93-A1CF-ADFE44F6FF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A423704A-3093-4879-B392-9A5E572C1CE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6F09DA46-2A49-4DCC-BD51-57C22665DD5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3D242ECF-4016-4CEE-A12A-8A8746F3E9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F7CC1-1E03-4F3A-AB27-DC309FA82821}" type="datetimeFigureOut">
              <a:rPr lang="fr-FR" smtClean="0"/>
              <a:t>03/07/2026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4737AE30-9A9B-4D65-BD38-36807FD939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DF5BC075-F395-4326-A12C-005C8087BC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59004-B6F4-483C-B773-88B71CE0DD7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562545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BD16981-D8DA-44DD-8858-1AA644C1A6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0AF5A0D8-6BFF-44BE-B065-524B3613F0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F7CC1-1E03-4F3A-AB27-DC309FA82821}" type="datetimeFigureOut">
              <a:rPr lang="fr-FR" smtClean="0"/>
              <a:t>03/07/2026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1B666B94-7F97-43B2-B0B4-B30D7FD189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8F37F2C-14FF-417D-AA73-C365426FBD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59004-B6F4-483C-B773-88B71CE0DD7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004708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B2725AF6-71F7-4245-96BF-6356ED1460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F7CC1-1E03-4F3A-AB27-DC309FA82821}" type="datetimeFigureOut">
              <a:rPr lang="fr-FR" smtClean="0"/>
              <a:t>03/07/2026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DB8BD582-61D5-4058-87BF-EDBCFABBA4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B6B7E7AE-9BEA-4068-9133-C8356C19BE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59004-B6F4-483C-B773-88B71CE0DD7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435403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9A7AAF0-1D46-4BDB-B7EF-6167AC1977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42C349A-5425-418E-A49F-8190110FBE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66B47101-3E19-48A0-BB36-BE550D5DD2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D5007D78-E3F4-4724-91CA-122B5590D9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F7CC1-1E03-4F3A-AB27-DC309FA82821}" type="datetimeFigureOut">
              <a:rPr lang="fr-FR" smtClean="0"/>
              <a:t>03/07/2026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2BAD8F84-8FDE-4DE6-87E4-FA92513013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E37BE18E-FB60-4FCF-B747-855E7F97EF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59004-B6F4-483C-B773-88B71CE0DD7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278741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B14C759-ADC7-4879-8305-5DB1F15961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7CCB957E-8A75-4438-AFE5-3BE81968302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AA04376F-3BB1-4FD2-ACB9-53CD275951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79F916D4-6BBD-4047-B6A8-9DE5D90992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F7CC1-1E03-4F3A-AB27-DC309FA82821}" type="datetimeFigureOut">
              <a:rPr lang="fr-FR" smtClean="0"/>
              <a:t>03/07/2026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F9967D5B-A576-4A2E-B9CA-83222518A5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DBDAFA1E-3499-45A6-A2F3-AD1517B582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59004-B6F4-483C-B773-88B71CE0DD7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054225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BBBA561-FCD4-4DCE-B29F-F8A8EEB70C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E080564A-55D5-42E9-B829-DCADB93FB6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2361CB8-0253-42E2-AEFE-86622B22D1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F7CC1-1E03-4F3A-AB27-DC309FA82821}" type="datetimeFigureOut">
              <a:rPr lang="fr-FR" smtClean="0"/>
              <a:t>03/07/2026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C53241F-0B05-4277-8147-E5EE7FF541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2B62634-48F5-4020-8751-BEAE81DF78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59004-B6F4-483C-B773-88B71CE0DD7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664752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E741FC2C-4EF6-4DB1-B842-C74FB9CC803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E990C590-20AA-4462-B693-C055024B3D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E1370A0-DA5A-42ED-8EF6-6E174B9A55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F7CC1-1E03-4F3A-AB27-DC309FA82821}" type="datetimeFigureOut">
              <a:rPr lang="fr-FR" smtClean="0"/>
              <a:t>03/07/2026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5C25B85-0A80-49CA-B4B2-F4EF93535C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C0E7BED-0DAA-459E-A2BD-CAA6F06E64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59004-B6F4-483C-B773-88B71CE0DD7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077386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801D9CF5-A29D-463F-877A-5EB89CCE17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9988E512-2651-45D5-BACB-C5AD021D32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6ED7FDA-5695-4A50-8611-64055DBDFE5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CF7CC1-1E03-4F3A-AB27-DC309FA82821}" type="datetimeFigureOut">
              <a:rPr lang="fr-FR" smtClean="0"/>
              <a:t>03/07/2026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C7C095A-D934-4CCD-A635-1353235BE72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F105EA0-2BF4-4E0E-B024-35F969D48B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A59004-B6F4-483C-B773-88B71CE0DD7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894178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BAE983D-80F2-4D13-9354-EA2BA22BB7B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dirty="0"/>
              <a:t>Présentation des résultats</a:t>
            </a:r>
          </a:p>
        </p:txBody>
      </p:sp>
    </p:spTree>
    <p:extLst>
      <p:ext uri="{BB962C8B-B14F-4D97-AF65-F5344CB8AC3E}">
        <p14:creationId xmlns:p14="http://schemas.microsoft.com/office/powerpoint/2010/main" val="21905237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BAE983D-80F2-4D13-9354-EA2BA22BB7B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dirty="0"/>
              <a:t>AMR Ville FQ</a:t>
            </a:r>
          </a:p>
        </p:txBody>
      </p:sp>
    </p:spTree>
    <p:extLst>
      <p:ext uri="{BB962C8B-B14F-4D97-AF65-F5344CB8AC3E}">
        <p14:creationId xmlns:p14="http://schemas.microsoft.com/office/powerpoint/2010/main" val="5540616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9530B02-42EB-42A6-98A3-D028D7F62B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8035" y="289826"/>
            <a:ext cx="10515600" cy="750611"/>
          </a:xfrm>
        </p:spPr>
        <p:txBody>
          <a:bodyPr/>
          <a:lstStyle/>
          <a:p>
            <a:r>
              <a:rPr lang="fr-FR" dirty="0"/>
              <a:t>Graphe du modèle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FE1698EB-FCF6-4E36-AE01-CAF8A3AD14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8035" y="1115736"/>
            <a:ext cx="8004512" cy="5425280"/>
          </a:xfrm>
          <a:prstGeom prst="rect">
            <a:avLst/>
          </a:prstGeom>
        </p:spPr>
      </p:pic>
      <p:grpSp>
        <p:nvGrpSpPr>
          <p:cNvPr id="8" name="Groupe 7">
            <a:extLst>
              <a:ext uri="{FF2B5EF4-FFF2-40B4-BE49-F238E27FC236}">
                <a16:creationId xmlns:a16="http://schemas.microsoft.com/office/drawing/2014/main" id="{6D79E95E-0AD4-4D8C-BEA1-1160FAFC3588}"/>
              </a:ext>
            </a:extLst>
          </p:cNvPr>
          <p:cNvGrpSpPr/>
          <p:nvPr/>
        </p:nvGrpSpPr>
        <p:grpSpPr>
          <a:xfrm>
            <a:off x="8787467" y="2374489"/>
            <a:ext cx="2877424" cy="1686188"/>
            <a:chOff x="8737133" y="1502034"/>
            <a:chExt cx="2877424" cy="1686188"/>
          </a:xfrm>
        </p:grpSpPr>
        <p:sp>
          <p:nvSpPr>
            <p:cNvPr id="6" name="Rectangle : carré corné 5">
              <a:extLst>
                <a:ext uri="{FF2B5EF4-FFF2-40B4-BE49-F238E27FC236}">
                  <a16:creationId xmlns:a16="http://schemas.microsoft.com/office/drawing/2014/main" id="{AB167A05-8477-4AF9-BA6C-1482FCA752F1}"/>
                </a:ext>
              </a:extLst>
            </p:cNvPr>
            <p:cNvSpPr/>
            <p:nvPr/>
          </p:nvSpPr>
          <p:spPr>
            <a:xfrm>
              <a:off x="8737133" y="1502034"/>
              <a:ext cx="2877424" cy="1686188"/>
            </a:xfrm>
            <a:prstGeom prst="foldedCorner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7" name="ZoneTexte 6">
              <a:extLst>
                <a:ext uri="{FF2B5EF4-FFF2-40B4-BE49-F238E27FC236}">
                  <a16:creationId xmlns:a16="http://schemas.microsoft.com/office/drawing/2014/main" id="{4862162D-BEE4-4B1F-B905-D2F0635B5F2A}"/>
                </a:ext>
              </a:extLst>
            </p:cNvPr>
            <p:cNvSpPr txBox="1"/>
            <p:nvPr/>
          </p:nvSpPr>
          <p:spPr>
            <a:xfrm>
              <a:off x="8883941" y="1652631"/>
              <a:ext cx="2583809" cy="13849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fr-FR" sz="1200" dirty="0"/>
                <a:t>AFIT (variance globale du modèle corrigé par le nb de paramètres à estimer) : 0.54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fr-FR" sz="1200" dirty="0"/>
                <a:t>FIT_M (variance du modèle entre VL et VO): 0.59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fr-FR" sz="1200" dirty="0"/>
                <a:t>FIT_S (variance du modèle des liens entre VL): 0.8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6819984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 9">
            <a:extLst>
              <a:ext uri="{FF2B5EF4-FFF2-40B4-BE49-F238E27FC236}">
                <a16:creationId xmlns:a16="http://schemas.microsoft.com/office/drawing/2014/main" id="{4C515769-5B3D-438F-91F8-E34514007F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7000" y="0"/>
            <a:ext cx="6858000" cy="6858000"/>
          </a:xfrm>
          <a:prstGeom prst="rect">
            <a:avLst/>
          </a:prstGeom>
        </p:spPr>
      </p:pic>
      <p:sp>
        <p:nvSpPr>
          <p:cNvPr id="2" name="Rectangle : carré corné 1">
            <a:extLst>
              <a:ext uri="{FF2B5EF4-FFF2-40B4-BE49-F238E27FC236}">
                <a16:creationId xmlns:a16="http://schemas.microsoft.com/office/drawing/2014/main" id="{BFB28677-11DA-4608-8F21-FBC0FE5957EB}"/>
              </a:ext>
            </a:extLst>
          </p:cNvPr>
          <p:cNvSpPr/>
          <p:nvPr/>
        </p:nvSpPr>
        <p:spPr>
          <a:xfrm>
            <a:off x="209725" y="620785"/>
            <a:ext cx="2298583" cy="5251509"/>
          </a:xfrm>
          <a:prstGeom prst="foldedCorner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BA51F41B-C70C-48EF-90D9-550EFF142915}"/>
              </a:ext>
            </a:extLst>
          </p:cNvPr>
          <p:cNvSpPr txBox="1"/>
          <p:nvPr/>
        </p:nvSpPr>
        <p:spPr>
          <a:xfrm>
            <a:off x="302004" y="746620"/>
            <a:ext cx="2072080" cy="41857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u="sng" dirty="0"/>
              <a:t>Block AMC: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400" dirty="0"/>
              <a:t>AMC ville FQ (+)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400" dirty="0"/>
              <a:t>AMC ES FQ (+)</a:t>
            </a:r>
          </a:p>
          <a:p>
            <a:r>
              <a:rPr lang="fr-FR" sz="1400" u="sng" dirty="0"/>
              <a:t>Block </a:t>
            </a:r>
            <a:r>
              <a:rPr lang="fr-FR" sz="1400" u="sng" dirty="0" err="1"/>
              <a:t>Humans</a:t>
            </a:r>
            <a:r>
              <a:rPr lang="fr-FR" sz="1400" u="sng" dirty="0"/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400" dirty="0" err="1"/>
              <a:t>Medecins</a:t>
            </a:r>
            <a:r>
              <a:rPr lang="fr-FR" sz="1400" dirty="0"/>
              <a:t>/</a:t>
            </a:r>
            <a:r>
              <a:rPr lang="fr-FR" sz="1400" dirty="0" err="1"/>
              <a:t>hab</a:t>
            </a:r>
            <a:r>
              <a:rPr lang="fr-FR" sz="1400" dirty="0"/>
              <a:t> (+)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400" dirty="0"/>
              <a:t>EQI (-)</a:t>
            </a:r>
          </a:p>
          <a:p>
            <a:r>
              <a:rPr lang="fr-FR" sz="1400" u="sng" dirty="0"/>
              <a:t>Block </a:t>
            </a:r>
            <a:r>
              <a:rPr lang="fr-FR" sz="1400" u="sng" dirty="0" err="1"/>
              <a:t>Environment</a:t>
            </a:r>
            <a:r>
              <a:rPr lang="fr-FR" sz="1400" u="sng" dirty="0"/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400" dirty="0"/>
              <a:t>Air PM25 (+)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400" dirty="0"/>
              <a:t>DJU froid (+)</a:t>
            </a:r>
          </a:p>
          <a:p>
            <a:r>
              <a:rPr lang="fr-FR" sz="1400" u="sng" dirty="0"/>
              <a:t>Block Animals: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400" dirty="0"/>
              <a:t>AMR animaux de compagnie FQ (+)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400" dirty="0"/>
              <a:t>Nb de vetos par animaux de compagnie (+)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400" dirty="0"/>
              <a:t>Densité animaux de production (-)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400" dirty="0"/>
              <a:t>AMR animaux de production FQ (-)</a:t>
            </a:r>
          </a:p>
        </p:txBody>
      </p:sp>
    </p:spTree>
    <p:extLst>
      <p:ext uri="{BB962C8B-B14F-4D97-AF65-F5344CB8AC3E}">
        <p14:creationId xmlns:p14="http://schemas.microsoft.com/office/powerpoint/2010/main" val="13755276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BAE983D-80F2-4D13-9354-EA2BA22BB7B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dirty="0"/>
              <a:t>AMR EHPAD FQ</a:t>
            </a:r>
          </a:p>
        </p:txBody>
      </p:sp>
    </p:spTree>
    <p:extLst>
      <p:ext uri="{BB962C8B-B14F-4D97-AF65-F5344CB8AC3E}">
        <p14:creationId xmlns:p14="http://schemas.microsoft.com/office/powerpoint/2010/main" val="7475495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9530B02-42EB-42A6-98A3-D028D7F62B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8035" y="289826"/>
            <a:ext cx="10515600" cy="750611"/>
          </a:xfrm>
        </p:spPr>
        <p:txBody>
          <a:bodyPr/>
          <a:lstStyle/>
          <a:p>
            <a:r>
              <a:rPr lang="fr-FR" dirty="0"/>
              <a:t>Graphe du modèle</a:t>
            </a:r>
          </a:p>
        </p:txBody>
      </p:sp>
      <p:grpSp>
        <p:nvGrpSpPr>
          <p:cNvPr id="8" name="Groupe 7">
            <a:extLst>
              <a:ext uri="{FF2B5EF4-FFF2-40B4-BE49-F238E27FC236}">
                <a16:creationId xmlns:a16="http://schemas.microsoft.com/office/drawing/2014/main" id="{6D79E95E-0AD4-4D8C-BEA1-1160FAFC3588}"/>
              </a:ext>
            </a:extLst>
          </p:cNvPr>
          <p:cNvGrpSpPr/>
          <p:nvPr/>
        </p:nvGrpSpPr>
        <p:grpSpPr>
          <a:xfrm>
            <a:off x="8787467" y="2374489"/>
            <a:ext cx="2877424" cy="1686188"/>
            <a:chOff x="8737133" y="1502034"/>
            <a:chExt cx="2877424" cy="1686188"/>
          </a:xfrm>
        </p:grpSpPr>
        <p:sp>
          <p:nvSpPr>
            <p:cNvPr id="6" name="Rectangle : carré corné 5">
              <a:extLst>
                <a:ext uri="{FF2B5EF4-FFF2-40B4-BE49-F238E27FC236}">
                  <a16:creationId xmlns:a16="http://schemas.microsoft.com/office/drawing/2014/main" id="{AB167A05-8477-4AF9-BA6C-1482FCA752F1}"/>
                </a:ext>
              </a:extLst>
            </p:cNvPr>
            <p:cNvSpPr/>
            <p:nvPr/>
          </p:nvSpPr>
          <p:spPr>
            <a:xfrm>
              <a:off x="8737133" y="1502034"/>
              <a:ext cx="2877424" cy="1686188"/>
            </a:xfrm>
            <a:prstGeom prst="foldedCorner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7" name="ZoneTexte 6">
              <a:extLst>
                <a:ext uri="{FF2B5EF4-FFF2-40B4-BE49-F238E27FC236}">
                  <a16:creationId xmlns:a16="http://schemas.microsoft.com/office/drawing/2014/main" id="{4862162D-BEE4-4B1F-B905-D2F0635B5F2A}"/>
                </a:ext>
              </a:extLst>
            </p:cNvPr>
            <p:cNvSpPr txBox="1"/>
            <p:nvPr/>
          </p:nvSpPr>
          <p:spPr>
            <a:xfrm>
              <a:off x="8883941" y="1652631"/>
              <a:ext cx="2583809" cy="13849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fr-FR" sz="1200" dirty="0"/>
                <a:t>AFIT (variance globale du modèle corrigé par le nb de paramètres à estimer) : 0.43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fr-FR" sz="1200" dirty="0"/>
                <a:t>FIT_M (variance du modèle entre VL et VO): 0.5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fr-FR" sz="1200" dirty="0"/>
                <a:t>FIT_S (variance du modèle des liens entre VL): 0.75</a:t>
              </a:r>
            </a:p>
          </p:txBody>
        </p:sp>
      </p:grpSp>
      <p:pic>
        <p:nvPicPr>
          <p:cNvPr id="4" name="Image 3">
            <a:extLst>
              <a:ext uri="{FF2B5EF4-FFF2-40B4-BE49-F238E27FC236}">
                <a16:creationId xmlns:a16="http://schemas.microsoft.com/office/drawing/2014/main" id="{AC85D8AC-D41F-4B2D-8606-8D070674F0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143" y="1163902"/>
            <a:ext cx="7841186" cy="51194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45032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 9">
            <a:extLst>
              <a:ext uri="{FF2B5EF4-FFF2-40B4-BE49-F238E27FC236}">
                <a16:creationId xmlns:a16="http://schemas.microsoft.com/office/drawing/2014/main" id="{4C515769-5B3D-438F-91F8-E34514007F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667000" y="0"/>
            <a:ext cx="6858000" cy="6858000"/>
          </a:xfrm>
          <a:prstGeom prst="rect">
            <a:avLst/>
          </a:prstGeom>
        </p:spPr>
      </p:pic>
      <p:sp>
        <p:nvSpPr>
          <p:cNvPr id="2" name="Rectangle : carré corné 1">
            <a:extLst>
              <a:ext uri="{FF2B5EF4-FFF2-40B4-BE49-F238E27FC236}">
                <a16:creationId xmlns:a16="http://schemas.microsoft.com/office/drawing/2014/main" id="{BFB28677-11DA-4608-8F21-FBC0FE5957EB}"/>
              </a:ext>
            </a:extLst>
          </p:cNvPr>
          <p:cNvSpPr/>
          <p:nvPr/>
        </p:nvSpPr>
        <p:spPr>
          <a:xfrm>
            <a:off x="209725" y="620785"/>
            <a:ext cx="2298583" cy="5251509"/>
          </a:xfrm>
          <a:prstGeom prst="foldedCorner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BA51F41B-C70C-48EF-90D9-550EFF142915}"/>
              </a:ext>
            </a:extLst>
          </p:cNvPr>
          <p:cNvSpPr txBox="1"/>
          <p:nvPr/>
        </p:nvSpPr>
        <p:spPr>
          <a:xfrm>
            <a:off x="302004" y="746620"/>
            <a:ext cx="2072080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u="sng" dirty="0"/>
              <a:t>Block AMC: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400" dirty="0"/>
              <a:t>AMC EHPAD FQ (+)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400" dirty="0"/>
              <a:t>AMC ES totale (+)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400" dirty="0"/>
              <a:t>AMC ville totale (+)</a:t>
            </a:r>
          </a:p>
          <a:p>
            <a:r>
              <a:rPr lang="fr-FR" sz="1400" u="sng" dirty="0"/>
              <a:t>Block </a:t>
            </a:r>
            <a:r>
              <a:rPr lang="fr-FR" sz="1400" u="sng" dirty="0" err="1"/>
              <a:t>Humans</a:t>
            </a:r>
            <a:r>
              <a:rPr lang="fr-FR" sz="1400" u="sng" dirty="0"/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400" dirty="0" err="1"/>
              <a:t>Medecins</a:t>
            </a:r>
            <a:r>
              <a:rPr lang="fr-FR" sz="1400" dirty="0"/>
              <a:t>/</a:t>
            </a:r>
            <a:r>
              <a:rPr lang="fr-FR" sz="1400" dirty="0" err="1"/>
              <a:t>hab</a:t>
            </a:r>
            <a:r>
              <a:rPr lang="fr-FR" sz="1400" dirty="0"/>
              <a:t> (+)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400" dirty="0"/>
              <a:t>Pop 75 plus (+)</a:t>
            </a:r>
          </a:p>
          <a:p>
            <a:r>
              <a:rPr lang="fr-FR" sz="1400" u="sng" dirty="0"/>
              <a:t>Block </a:t>
            </a:r>
            <a:r>
              <a:rPr lang="fr-FR" sz="1400" u="sng" dirty="0" err="1"/>
              <a:t>Environment</a:t>
            </a:r>
            <a:r>
              <a:rPr lang="fr-FR" sz="1400" u="sng" dirty="0"/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400" dirty="0"/>
              <a:t>Air PM25 (+)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400" dirty="0"/>
              <a:t>DJU froid (+)</a:t>
            </a:r>
          </a:p>
          <a:p>
            <a:r>
              <a:rPr lang="fr-FR" sz="1400" u="sng" dirty="0"/>
              <a:t>Block Animals: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400" dirty="0"/>
              <a:t>AMR animaux de production FQ (+)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400" dirty="0"/>
              <a:t>Nb de vetos par animaux de compagnie (+)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400" dirty="0"/>
              <a:t>Densité animaux de production (+)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400" dirty="0"/>
              <a:t>Taux de possession de chats (+)</a:t>
            </a:r>
          </a:p>
        </p:txBody>
      </p:sp>
    </p:spTree>
    <p:extLst>
      <p:ext uri="{BB962C8B-B14F-4D97-AF65-F5344CB8AC3E}">
        <p14:creationId xmlns:p14="http://schemas.microsoft.com/office/powerpoint/2010/main" val="30656945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BAE983D-80F2-4D13-9354-EA2BA22BB7B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dirty="0"/>
              <a:t>AMR ES FQ</a:t>
            </a:r>
          </a:p>
        </p:txBody>
      </p:sp>
    </p:spTree>
    <p:extLst>
      <p:ext uri="{BB962C8B-B14F-4D97-AF65-F5344CB8AC3E}">
        <p14:creationId xmlns:p14="http://schemas.microsoft.com/office/powerpoint/2010/main" val="28844978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9530B02-42EB-42A6-98A3-D028D7F62B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8035" y="289826"/>
            <a:ext cx="10515600" cy="750611"/>
          </a:xfrm>
        </p:spPr>
        <p:txBody>
          <a:bodyPr/>
          <a:lstStyle/>
          <a:p>
            <a:r>
              <a:rPr lang="fr-FR" dirty="0"/>
              <a:t>Graphe du modèle</a:t>
            </a:r>
          </a:p>
        </p:txBody>
      </p:sp>
      <p:grpSp>
        <p:nvGrpSpPr>
          <p:cNvPr id="8" name="Groupe 7">
            <a:extLst>
              <a:ext uri="{FF2B5EF4-FFF2-40B4-BE49-F238E27FC236}">
                <a16:creationId xmlns:a16="http://schemas.microsoft.com/office/drawing/2014/main" id="{6D79E95E-0AD4-4D8C-BEA1-1160FAFC3588}"/>
              </a:ext>
            </a:extLst>
          </p:cNvPr>
          <p:cNvGrpSpPr/>
          <p:nvPr/>
        </p:nvGrpSpPr>
        <p:grpSpPr>
          <a:xfrm>
            <a:off x="8787467" y="2374489"/>
            <a:ext cx="2877424" cy="1686188"/>
            <a:chOff x="8737133" y="1502034"/>
            <a:chExt cx="2877424" cy="1686188"/>
          </a:xfrm>
        </p:grpSpPr>
        <p:sp>
          <p:nvSpPr>
            <p:cNvPr id="6" name="Rectangle : carré corné 5">
              <a:extLst>
                <a:ext uri="{FF2B5EF4-FFF2-40B4-BE49-F238E27FC236}">
                  <a16:creationId xmlns:a16="http://schemas.microsoft.com/office/drawing/2014/main" id="{AB167A05-8477-4AF9-BA6C-1482FCA752F1}"/>
                </a:ext>
              </a:extLst>
            </p:cNvPr>
            <p:cNvSpPr/>
            <p:nvPr/>
          </p:nvSpPr>
          <p:spPr>
            <a:xfrm>
              <a:off x="8737133" y="1502034"/>
              <a:ext cx="2877424" cy="1686188"/>
            </a:xfrm>
            <a:prstGeom prst="foldedCorner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7" name="ZoneTexte 6">
              <a:extLst>
                <a:ext uri="{FF2B5EF4-FFF2-40B4-BE49-F238E27FC236}">
                  <a16:creationId xmlns:a16="http://schemas.microsoft.com/office/drawing/2014/main" id="{4862162D-BEE4-4B1F-B905-D2F0635B5F2A}"/>
                </a:ext>
              </a:extLst>
            </p:cNvPr>
            <p:cNvSpPr txBox="1"/>
            <p:nvPr/>
          </p:nvSpPr>
          <p:spPr>
            <a:xfrm>
              <a:off x="8883941" y="1652631"/>
              <a:ext cx="2583809" cy="13849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fr-FR" sz="1200" dirty="0"/>
                <a:t>AFIT (variance globale du modèle corrigé par le nb de paramètres à estimer) : 0.53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fr-FR" sz="1200" dirty="0"/>
                <a:t>FIT_M (variance du modèle entre VL et VO): 0.58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fr-FR" sz="1200" dirty="0"/>
                <a:t>FIT_S (variance du modèle des liens entre VL): 0.79</a:t>
              </a:r>
            </a:p>
          </p:txBody>
        </p:sp>
      </p:grpSp>
      <p:pic>
        <p:nvPicPr>
          <p:cNvPr id="1026" name="Picture 2">
            <a:extLst>
              <a:ext uri="{FF2B5EF4-FFF2-40B4-BE49-F238E27FC236}">
                <a16:creationId xmlns:a16="http://schemas.microsoft.com/office/drawing/2014/main" id="{20D7DE0F-7694-48E5-96C2-7B511681E1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2200" y="1120742"/>
            <a:ext cx="7585062" cy="54179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068596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 9">
            <a:extLst>
              <a:ext uri="{FF2B5EF4-FFF2-40B4-BE49-F238E27FC236}">
                <a16:creationId xmlns:a16="http://schemas.microsoft.com/office/drawing/2014/main" id="{4C515769-5B3D-438F-91F8-E34514007F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667000" y="0"/>
            <a:ext cx="6858000" cy="6858000"/>
          </a:xfrm>
          <a:prstGeom prst="rect">
            <a:avLst/>
          </a:prstGeom>
        </p:spPr>
      </p:pic>
      <p:sp>
        <p:nvSpPr>
          <p:cNvPr id="2" name="Rectangle : carré corné 1">
            <a:extLst>
              <a:ext uri="{FF2B5EF4-FFF2-40B4-BE49-F238E27FC236}">
                <a16:creationId xmlns:a16="http://schemas.microsoft.com/office/drawing/2014/main" id="{BFB28677-11DA-4608-8F21-FBC0FE5957EB}"/>
              </a:ext>
            </a:extLst>
          </p:cNvPr>
          <p:cNvSpPr/>
          <p:nvPr/>
        </p:nvSpPr>
        <p:spPr>
          <a:xfrm>
            <a:off x="209725" y="620786"/>
            <a:ext cx="2298583" cy="4379054"/>
          </a:xfrm>
          <a:prstGeom prst="foldedCorner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BA51F41B-C70C-48EF-90D9-550EFF142915}"/>
              </a:ext>
            </a:extLst>
          </p:cNvPr>
          <p:cNvSpPr txBox="1"/>
          <p:nvPr/>
        </p:nvSpPr>
        <p:spPr>
          <a:xfrm>
            <a:off x="302004" y="746620"/>
            <a:ext cx="2072080" cy="37548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u="sng" dirty="0"/>
              <a:t>Block AMC: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400" dirty="0"/>
              <a:t>AMC ES FQ (+)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400" dirty="0"/>
              <a:t>AMC ville FQ (+)</a:t>
            </a:r>
          </a:p>
          <a:p>
            <a:r>
              <a:rPr lang="fr-FR" sz="1400" u="sng" dirty="0"/>
              <a:t>Block </a:t>
            </a:r>
            <a:r>
              <a:rPr lang="fr-FR" sz="1400" u="sng" dirty="0" err="1"/>
              <a:t>Humans</a:t>
            </a:r>
            <a:r>
              <a:rPr lang="fr-FR" sz="1400" u="sng" dirty="0"/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400" dirty="0" err="1"/>
              <a:t>Medecins</a:t>
            </a:r>
            <a:r>
              <a:rPr lang="fr-FR" sz="1400" dirty="0"/>
              <a:t>/</a:t>
            </a:r>
            <a:r>
              <a:rPr lang="fr-FR" sz="1400" dirty="0" err="1"/>
              <a:t>hab</a:t>
            </a:r>
            <a:r>
              <a:rPr lang="fr-FR" sz="1400" dirty="0"/>
              <a:t> (+)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400" dirty="0"/>
              <a:t>Pop 75 plus (-)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400" dirty="0"/>
              <a:t>EQI (+)</a:t>
            </a:r>
          </a:p>
          <a:p>
            <a:r>
              <a:rPr lang="fr-FR" sz="1400" u="sng" dirty="0"/>
              <a:t>Block </a:t>
            </a:r>
            <a:r>
              <a:rPr lang="fr-FR" sz="1400" u="sng" dirty="0" err="1"/>
              <a:t>Environment</a:t>
            </a:r>
            <a:r>
              <a:rPr lang="fr-FR" sz="1400" u="sng" dirty="0"/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400" dirty="0"/>
              <a:t>Air PM25 (+)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400" dirty="0"/>
              <a:t>DJU froid (+)</a:t>
            </a:r>
          </a:p>
          <a:p>
            <a:r>
              <a:rPr lang="fr-FR" sz="1400" u="sng" dirty="0"/>
              <a:t>Block Animals: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400" dirty="0"/>
              <a:t>AMR animaux de compagnie C3G (-)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400" dirty="0"/>
              <a:t>Densité animaux de production (+)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400" dirty="0"/>
              <a:t>Taux de possession de chats (+)</a:t>
            </a:r>
          </a:p>
        </p:txBody>
      </p:sp>
    </p:spTree>
    <p:extLst>
      <p:ext uri="{BB962C8B-B14F-4D97-AF65-F5344CB8AC3E}">
        <p14:creationId xmlns:p14="http://schemas.microsoft.com/office/powerpoint/2010/main" val="38613329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BAE983D-80F2-4D13-9354-EA2BA22BB7B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dirty="0"/>
              <a:t>AMR EHPAD C3G</a:t>
            </a:r>
          </a:p>
        </p:txBody>
      </p:sp>
    </p:spTree>
    <p:extLst>
      <p:ext uri="{BB962C8B-B14F-4D97-AF65-F5344CB8AC3E}">
        <p14:creationId xmlns:p14="http://schemas.microsoft.com/office/powerpoint/2010/main" val="16105250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9530B02-42EB-42A6-98A3-D028D7F62B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8035" y="289826"/>
            <a:ext cx="10515600" cy="750611"/>
          </a:xfrm>
        </p:spPr>
        <p:txBody>
          <a:bodyPr/>
          <a:lstStyle/>
          <a:p>
            <a:r>
              <a:rPr lang="fr-FR" dirty="0"/>
              <a:t>Graphe du modèle</a:t>
            </a:r>
          </a:p>
        </p:txBody>
      </p:sp>
      <p:grpSp>
        <p:nvGrpSpPr>
          <p:cNvPr id="8" name="Groupe 7">
            <a:extLst>
              <a:ext uri="{FF2B5EF4-FFF2-40B4-BE49-F238E27FC236}">
                <a16:creationId xmlns:a16="http://schemas.microsoft.com/office/drawing/2014/main" id="{6D79E95E-0AD4-4D8C-BEA1-1160FAFC3588}"/>
              </a:ext>
            </a:extLst>
          </p:cNvPr>
          <p:cNvGrpSpPr/>
          <p:nvPr/>
        </p:nvGrpSpPr>
        <p:grpSpPr>
          <a:xfrm>
            <a:off x="8787467" y="2374489"/>
            <a:ext cx="2877424" cy="1686188"/>
            <a:chOff x="8737133" y="1502034"/>
            <a:chExt cx="2877424" cy="1686188"/>
          </a:xfrm>
        </p:grpSpPr>
        <p:sp>
          <p:nvSpPr>
            <p:cNvPr id="6" name="Rectangle : carré corné 5">
              <a:extLst>
                <a:ext uri="{FF2B5EF4-FFF2-40B4-BE49-F238E27FC236}">
                  <a16:creationId xmlns:a16="http://schemas.microsoft.com/office/drawing/2014/main" id="{AB167A05-8477-4AF9-BA6C-1482FCA752F1}"/>
                </a:ext>
              </a:extLst>
            </p:cNvPr>
            <p:cNvSpPr/>
            <p:nvPr/>
          </p:nvSpPr>
          <p:spPr>
            <a:xfrm>
              <a:off x="8737133" y="1502034"/>
              <a:ext cx="2877424" cy="1686188"/>
            </a:xfrm>
            <a:prstGeom prst="foldedCorner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7" name="ZoneTexte 6">
              <a:extLst>
                <a:ext uri="{FF2B5EF4-FFF2-40B4-BE49-F238E27FC236}">
                  <a16:creationId xmlns:a16="http://schemas.microsoft.com/office/drawing/2014/main" id="{4862162D-BEE4-4B1F-B905-D2F0635B5F2A}"/>
                </a:ext>
              </a:extLst>
            </p:cNvPr>
            <p:cNvSpPr txBox="1"/>
            <p:nvPr/>
          </p:nvSpPr>
          <p:spPr>
            <a:xfrm>
              <a:off x="8883941" y="1652631"/>
              <a:ext cx="2583809" cy="13849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fr-FR" sz="1200" dirty="0"/>
                <a:t>AFIT (variance globale du modèle corrigé par le nb de paramètres à estimer) : 0.45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fr-FR" sz="1200" dirty="0"/>
                <a:t>FIT_M (variance du modèle entre VL et VO): 0.54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fr-FR" sz="1200" dirty="0"/>
                <a:t>FIT_S (variance du modèle des liens entre VL): 0.68</a:t>
              </a:r>
            </a:p>
          </p:txBody>
        </p:sp>
      </p:grpSp>
      <p:pic>
        <p:nvPicPr>
          <p:cNvPr id="2050" name="Picture 2">
            <a:extLst>
              <a:ext uri="{FF2B5EF4-FFF2-40B4-BE49-F238E27FC236}">
                <a16:creationId xmlns:a16="http://schemas.microsoft.com/office/drawing/2014/main" id="{F0AEED13-B723-4F24-B1E6-1DCD16ED2E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040437"/>
            <a:ext cx="7974782" cy="56962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06911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 9">
            <a:extLst>
              <a:ext uri="{FF2B5EF4-FFF2-40B4-BE49-F238E27FC236}">
                <a16:creationId xmlns:a16="http://schemas.microsoft.com/office/drawing/2014/main" id="{4C515769-5B3D-438F-91F8-E34514007F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667000" y="0"/>
            <a:ext cx="6858000" cy="6858000"/>
          </a:xfrm>
          <a:prstGeom prst="rect">
            <a:avLst/>
          </a:prstGeom>
        </p:spPr>
      </p:pic>
      <p:sp>
        <p:nvSpPr>
          <p:cNvPr id="2" name="Rectangle : carré corné 1">
            <a:extLst>
              <a:ext uri="{FF2B5EF4-FFF2-40B4-BE49-F238E27FC236}">
                <a16:creationId xmlns:a16="http://schemas.microsoft.com/office/drawing/2014/main" id="{BFB28677-11DA-4608-8F21-FBC0FE5957EB}"/>
              </a:ext>
            </a:extLst>
          </p:cNvPr>
          <p:cNvSpPr/>
          <p:nvPr/>
        </p:nvSpPr>
        <p:spPr>
          <a:xfrm>
            <a:off x="209725" y="620786"/>
            <a:ext cx="2298583" cy="4379054"/>
          </a:xfrm>
          <a:prstGeom prst="foldedCorner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BA51F41B-C70C-48EF-90D9-550EFF142915}"/>
              </a:ext>
            </a:extLst>
          </p:cNvPr>
          <p:cNvSpPr txBox="1"/>
          <p:nvPr/>
        </p:nvSpPr>
        <p:spPr>
          <a:xfrm>
            <a:off x="302004" y="746620"/>
            <a:ext cx="207208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u="sng" dirty="0"/>
              <a:t>Block AMC: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400" dirty="0"/>
              <a:t>AMC EHPAD C3G (+)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400" dirty="0"/>
              <a:t>AMC ville totale (+)</a:t>
            </a:r>
          </a:p>
          <a:p>
            <a:r>
              <a:rPr lang="fr-FR" sz="1400" u="sng" dirty="0"/>
              <a:t>Block </a:t>
            </a:r>
            <a:r>
              <a:rPr lang="fr-FR" sz="1400" u="sng" dirty="0" err="1"/>
              <a:t>Humans</a:t>
            </a:r>
            <a:r>
              <a:rPr lang="fr-FR" sz="1400" u="sng" dirty="0"/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400" dirty="0" err="1"/>
              <a:t>Medecins</a:t>
            </a:r>
            <a:r>
              <a:rPr lang="fr-FR" sz="1400" dirty="0"/>
              <a:t>/</a:t>
            </a:r>
            <a:r>
              <a:rPr lang="fr-FR" sz="1400" dirty="0" err="1"/>
              <a:t>hab</a:t>
            </a:r>
            <a:r>
              <a:rPr lang="fr-FR" sz="1400" dirty="0"/>
              <a:t> (+)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400" dirty="0"/>
              <a:t>Pop 75 plus (-)</a:t>
            </a:r>
          </a:p>
          <a:p>
            <a:r>
              <a:rPr lang="fr-FR" sz="1400" u="sng" dirty="0"/>
              <a:t>Block </a:t>
            </a:r>
            <a:r>
              <a:rPr lang="fr-FR" sz="1400" u="sng" dirty="0" err="1"/>
              <a:t>Environment</a:t>
            </a:r>
            <a:r>
              <a:rPr lang="fr-FR" sz="1400" u="sng" dirty="0"/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400" dirty="0"/>
              <a:t>Air PM25 (+)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400" dirty="0"/>
              <a:t>DJU froid (+)</a:t>
            </a:r>
          </a:p>
          <a:p>
            <a:r>
              <a:rPr lang="fr-FR" sz="1400" u="sng" dirty="0"/>
              <a:t>Block Animals: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400" dirty="0"/>
              <a:t>AMR animaux de production C3G (+)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400" dirty="0"/>
              <a:t>Densité animaux de production (+)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400" dirty="0"/>
              <a:t>Taux de possession de chevaux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400" dirty="0"/>
              <a:t>Taux de possession de chats (+)</a:t>
            </a:r>
          </a:p>
        </p:txBody>
      </p:sp>
    </p:spTree>
    <p:extLst>
      <p:ext uri="{BB962C8B-B14F-4D97-AF65-F5344CB8AC3E}">
        <p14:creationId xmlns:p14="http://schemas.microsoft.com/office/powerpoint/2010/main" val="28536444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BAE983D-80F2-4D13-9354-EA2BA22BB7B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dirty="0"/>
              <a:t>AMR ES C3G</a:t>
            </a:r>
          </a:p>
        </p:txBody>
      </p:sp>
    </p:spTree>
    <p:extLst>
      <p:ext uri="{BB962C8B-B14F-4D97-AF65-F5344CB8AC3E}">
        <p14:creationId xmlns:p14="http://schemas.microsoft.com/office/powerpoint/2010/main" val="6639210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9530B02-42EB-42A6-98A3-D028D7F62B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8035" y="289826"/>
            <a:ext cx="10515600" cy="750611"/>
          </a:xfrm>
        </p:spPr>
        <p:txBody>
          <a:bodyPr/>
          <a:lstStyle/>
          <a:p>
            <a:r>
              <a:rPr lang="fr-FR" dirty="0"/>
              <a:t>Graphe du modèle</a:t>
            </a:r>
          </a:p>
        </p:txBody>
      </p:sp>
      <p:grpSp>
        <p:nvGrpSpPr>
          <p:cNvPr id="8" name="Groupe 7">
            <a:extLst>
              <a:ext uri="{FF2B5EF4-FFF2-40B4-BE49-F238E27FC236}">
                <a16:creationId xmlns:a16="http://schemas.microsoft.com/office/drawing/2014/main" id="{6D79E95E-0AD4-4D8C-BEA1-1160FAFC3588}"/>
              </a:ext>
            </a:extLst>
          </p:cNvPr>
          <p:cNvGrpSpPr/>
          <p:nvPr/>
        </p:nvGrpSpPr>
        <p:grpSpPr>
          <a:xfrm>
            <a:off x="8787467" y="2374489"/>
            <a:ext cx="2877424" cy="1686188"/>
            <a:chOff x="8737133" y="1502034"/>
            <a:chExt cx="2877424" cy="1686188"/>
          </a:xfrm>
        </p:grpSpPr>
        <p:sp>
          <p:nvSpPr>
            <p:cNvPr id="6" name="Rectangle : carré corné 5">
              <a:extLst>
                <a:ext uri="{FF2B5EF4-FFF2-40B4-BE49-F238E27FC236}">
                  <a16:creationId xmlns:a16="http://schemas.microsoft.com/office/drawing/2014/main" id="{AB167A05-8477-4AF9-BA6C-1482FCA752F1}"/>
                </a:ext>
              </a:extLst>
            </p:cNvPr>
            <p:cNvSpPr/>
            <p:nvPr/>
          </p:nvSpPr>
          <p:spPr>
            <a:xfrm>
              <a:off x="8737133" y="1502034"/>
              <a:ext cx="2877424" cy="1686188"/>
            </a:xfrm>
            <a:prstGeom prst="foldedCorner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7" name="ZoneTexte 6">
              <a:extLst>
                <a:ext uri="{FF2B5EF4-FFF2-40B4-BE49-F238E27FC236}">
                  <a16:creationId xmlns:a16="http://schemas.microsoft.com/office/drawing/2014/main" id="{4862162D-BEE4-4B1F-B905-D2F0635B5F2A}"/>
                </a:ext>
              </a:extLst>
            </p:cNvPr>
            <p:cNvSpPr txBox="1"/>
            <p:nvPr/>
          </p:nvSpPr>
          <p:spPr>
            <a:xfrm>
              <a:off x="8883941" y="1652631"/>
              <a:ext cx="2583809" cy="13849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fr-FR" sz="1200" dirty="0"/>
                <a:t>AFIT (variance globale du modèle corrigé par le nb de paramètres à estimer) : 0.52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fr-FR" sz="1200" dirty="0"/>
                <a:t>FIT_M (variance du modèle entre VL et VO): 0.64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fr-FR" sz="1200" dirty="0"/>
                <a:t>FIT_S (variance du modèle des liens entre VL): 0.66</a:t>
              </a:r>
            </a:p>
          </p:txBody>
        </p:sp>
      </p:grpSp>
      <p:pic>
        <p:nvPicPr>
          <p:cNvPr id="3" name="Image 2">
            <a:extLst>
              <a:ext uri="{FF2B5EF4-FFF2-40B4-BE49-F238E27FC236}">
                <a16:creationId xmlns:a16="http://schemas.microsoft.com/office/drawing/2014/main" id="{58A70BA5-EEBA-4ABF-8264-60B341B0D7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81074"/>
            <a:ext cx="8201219" cy="58580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618454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 9">
            <a:extLst>
              <a:ext uri="{FF2B5EF4-FFF2-40B4-BE49-F238E27FC236}">
                <a16:creationId xmlns:a16="http://schemas.microsoft.com/office/drawing/2014/main" id="{4C515769-5B3D-438F-91F8-E34514007F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667000" y="0"/>
            <a:ext cx="6858000" cy="6858000"/>
          </a:xfrm>
          <a:prstGeom prst="rect">
            <a:avLst/>
          </a:prstGeom>
        </p:spPr>
      </p:pic>
      <p:sp>
        <p:nvSpPr>
          <p:cNvPr id="2" name="Rectangle : carré corné 1">
            <a:extLst>
              <a:ext uri="{FF2B5EF4-FFF2-40B4-BE49-F238E27FC236}">
                <a16:creationId xmlns:a16="http://schemas.microsoft.com/office/drawing/2014/main" id="{BFB28677-11DA-4608-8F21-FBC0FE5957EB}"/>
              </a:ext>
            </a:extLst>
          </p:cNvPr>
          <p:cNvSpPr/>
          <p:nvPr/>
        </p:nvSpPr>
        <p:spPr>
          <a:xfrm>
            <a:off x="209725" y="620786"/>
            <a:ext cx="2298583" cy="4379054"/>
          </a:xfrm>
          <a:prstGeom prst="foldedCorner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BA51F41B-C70C-48EF-90D9-550EFF142915}"/>
              </a:ext>
            </a:extLst>
          </p:cNvPr>
          <p:cNvSpPr txBox="1"/>
          <p:nvPr/>
        </p:nvSpPr>
        <p:spPr>
          <a:xfrm>
            <a:off x="302004" y="746620"/>
            <a:ext cx="2072080" cy="41857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u="sng" dirty="0"/>
              <a:t>Block AMC: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400" dirty="0"/>
              <a:t>AMC ES C3G (+)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400" dirty="0"/>
              <a:t>AMC ville C3G (+)</a:t>
            </a:r>
          </a:p>
          <a:p>
            <a:r>
              <a:rPr lang="fr-FR" sz="1400" u="sng" dirty="0"/>
              <a:t>Block </a:t>
            </a:r>
            <a:r>
              <a:rPr lang="fr-FR" sz="1400" u="sng" dirty="0" err="1"/>
              <a:t>Humans</a:t>
            </a:r>
            <a:r>
              <a:rPr lang="fr-FR" sz="1400" u="sng" dirty="0"/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400" dirty="0" err="1"/>
              <a:t>Medecins</a:t>
            </a:r>
            <a:r>
              <a:rPr lang="fr-FR" sz="1400" dirty="0"/>
              <a:t>/</a:t>
            </a:r>
            <a:r>
              <a:rPr lang="fr-FR" sz="1400" dirty="0" err="1"/>
              <a:t>hab</a:t>
            </a:r>
            <a:r>
              <a:rPr lang="fr-FR" sz="1400" dirty="0"/>
              <a:t> (+)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400" dirty="0" err="1"/>
              <a:t>Tx</a:t>
            </a:r>
            <a:r>
              <a:rPr lang="fr-FR" sz="1400" dirty="0"/>
              <a:t> de pauvreté à 60% du revenu médian (+)</a:t>
            </a:r>
          </a:p>
          <a:p>
            <a:r>
              <a:rPr lang="fr-FR" sz="1400" u="sng" dirty="0"/>
              <a:t>Block </a:t>
            </a:r>
            <a:r>
              <a:rPr lang="fr-FR" sz="1400" u="sng" dirty="0" err="1"/>
              <a:t>Environment</a:t>
            </a:r>
            <a:r>
              <a:rPr lang="fr-FR" sz="1400" u="sng" dirty="0"/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400" dirty="0"/>
              <a:t>Air PM25 (+)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400" dirty="0"/>
              <a:t>DJU froid (+)</a:t>
            </a:r>
          </a:p>
          <a:p>
            <a:r>
              <a:rPr lang="fr-FR" sz="1400" u="sng" dirty="0"/>
              <a:t>Block Animals: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400" dirty="0"/>
              <a:t>AMR animaux de production C3G (+)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400" dirty="0"/>
              <a:t>Densité animaux de production (+)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400" dirty="0"/>
              <a:t>Densité de volailles (+)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400" dirty="0"/>
              <a:t>Taux de possession de chats (-)</a:t>
            </a:r>
          </a:p>
        </p:txBody>
      </p:sp>
    </p:spTree>
    <p:extLst>
      <p:ext uri="{BB962C8B-B14F-4D97-AF65-F5344CB8AC3E}">
        <p14:creationId xmlns:p14="http://schemas.microsoft.com/office/powerpoint/2010/main" val="287699681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BAE983D-80F2-4D13-9354-EA2BA22BB7B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dirty="0"/>
              <a:t>AMR Ville C3G</a:t>
            </a:r>
          </a:p>
        </p:txBody>
      </p:sp>
    </p:spTree>
    <p:extLst>
      <p:ext uri="{BB962C8B-B14F-4D97-AF65-F5344CB8AC3E}">
        <p14:creationId xmlns:p14="http://schemas.microsoft.com/office/powerpoint/2010/main" val="146605388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9530B02-42EB-42A6-98A3-D028D7F62B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8035" y="289826"/>
            <a:ext cx="10515600" cy="750611"/>
          </a:xfrm>
        </p:spPr>
        <p:txBody>
          <a:bodyPr/>
          <a:lstStyle/>
          <a:p>
            <a:r>
              <a:rPr lang="fr-FR" dirty="0"/>
              <a:t>Graphe du modèle</a:t>
            </a:r>
          </a:p>
        </p:txBody>
      </p:sp>
      <p:grpSp>
        <p:nvGrpSpPr>
          <p:cNvPr id="8" name="Groupe 7">
            <a:extLst>
              <a:ext uri="{FF2B5EF4-FFF2-40B4-BE49-F238E27FC236}">
                <a16:creationId xmlns:a16="http://schemas.microsoft.com/office/drawing/2014/main" id="{6D79E95E-0AD4-4D8C-BEA1-1160FAFC3588}"/>
              </a:ext>
            </a:extLst>
          </p:cNvPr>
          <p:cNvGrpSpPr/>
          <p:nvPr/>
        </p:nvGrpSpPr>
        <p:grpSpPr>
          <a:xfrm>
            <a:off x="8787467" y="2374489"/>
            <a:ext cx="2877424" cy="1686188"/>
            <a:chOff x="8737133" y="1502034"/>
            <a:chExt cx="2877424" cy="1686188"/>
          </a:xfrm>
        </p:grpSpPr>
        <p:sp>
          <p:nvSpPr>
            <p:cNvPr id="6" name="Rectangle : carré corné 5">
              <a:extLst>
                <a:ext uri="{FF2B5EF4-FFF2-40B4-BE49-F238E27FC236}">
                  <a16:creationId xmlns:a16="http://schemas.microsoft.com/office/drawing/2014/main" id="{AB167A05-8477-4AF9-BA6C-1482FCA752F1}"/>
                </a:ext>
              </a:extLst>
            </p:cNvPr>
            <p:cNvSpPr/>
            <p:nvPr/>
          </p:nvSpPr>
          <p:spPr>
            <a:xfrm>
              <a:off x="8737133" y="1502034"/>
              <a:ext cx="2877424" cy="1686188"/>
            </a:xfrm>
            <a:prstGeom prst="foldedCorner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7" name="ZoneTexte 6">
              <a:extLst>
                <a:ext uri="{FF2B5EF4-FFF2-40B4-BE49-F238E27FC236}">
                  <a16:creationId xmlns:a16="http://schemas.microsoft.com/office/drawing/2014/main" id="{4862162D-BEE4-4B1F-B905-D2F0635B5F2A}"/>
                </a:ext>
              </a:extLst>
            </p:cNvPr>
            <p:cNvSpPr txBox="1"/>
            <p:nvPr/>
          </p:nvSpPr>
          <p:spPr>
            <a:xfrm>
              <a:off x="8883941" y="1652631"/>
              <a:ext cx="2583809" cy="13849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fr-FR" sz="1200" dirty="0"/>
                <a:t>AFIT (variance globale du modèle corrigé par le nb de paramètres à estimer) : 0.52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fr-FR" sz="1200" dirty="0"/>
                <a:t>FIT_M (variance du modèle entre VL et VO): 0.6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fr-FR" sz="1200" dirty="0"/>
                <a:t>FIT_S (variance du modèle des liens entre VL): 0.75</a:t>
              </a:r>
            </a:p>
          </p:txBody>
        </p:sp>
      </p:grpSp>
      <p:pic>
        <p:nvPicPr>
          <p:cNvPr id="3074" name="Picture 2">
            <a:extLst>
              <a:ext uri="{FF2B5EF4-FFF2-40B4-BE49-F238E27FC236}">
                <a16:creationId xmlns:a16="http://schemas.microsoft.com/office/drawing/2014/main" id="{C76258F2-7060-4171-AC64-A03072BF75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278" y="1086037"/>
            <a:ext cx="7907323" cy="56480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4779671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 9">
            <a:extLst>
              <a:ext uri="{FF2B5EF4-FFF2-40B4-BE49-F238E27FC236}">
                <a16:creationId xmlns:a16="http://schemas.microsoft.com/office/drawing/2014/main" id="{4C515769-5B3D-438F-91F8-E34514007F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667000" y="0"/>
            <a:ext cx="6858000" cy="6858000"/>
          </a:xfrm>
          <a:prstGeom prst="rect">
            <a:avLst/>
          </a:prstGeom>
        </p:spPr>
      </p:pic>
      <p:sp>
        <p:nvSpPr>
          <p:cNvPr id="2" name="Rectangle : carré corné 1">
            <a:extLst>
              <a:ext uri="{FF2B5EF4-FFF2-40B4-BE49-F238E27FC236}">
                <a16:creationId xmlns:a16="http://schemas.microsoft.com/office/drawing/2014/main" id="{BFB28677-11DA-4608-8F21-FBC0FE5957EB}"/>
              </a:ext>
            </a:extLst>
          </p:cNvPr>
          <p:cNvSpPr/>
          <p:nvPr/>
        </p:nvSpPr>
        <p:spPr>
          <a:xfrm>
            <a:off x="209725" y="620786"/>
            <a:ext cx="2298583" cy="4613944"/>
          </a:xfrm>
          <a:prstGeom prst="foldedCorner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BA51F41B-C70C-48EF-90D9-550EFF142915}"/>
              </a:ext>
            </a:extLst>
          </p:cNvPr>
          <p:cNvSpPr txBox="1"/>
          <p:nvPr/>
        </p:nvSpPr>
        <p:spPr>
          <a:xfrm>
            <a:off x="302004" y="746620"/>
            <a:ext cx="2072080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u="sng" dirty="0"/>
              <a:t>Block AMC: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400" dirty="0"/>
              <a:t>AMC ES C3G (+)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400" dirty="0"/>
              <a:t>AMC ville totale (+)</a:t>
            </a:r>
          </a:p>
          <a:p>
            <a:r>
              <a:rPr lang="fr-FR" sz="1400" u="sng" dirty="0"/>
              <a:t>Block </a:t>
            </a:r>
            <a:r>
              <a:rPr lang="fr-FR" sz="1400" u="sng" dirty="0" err="1"/>
              <a:t>Humans</a:t>
            </a:r>
            <a:r>
              <a:rPr lang="fr-FR" sz="1400" u="sng" dirty="0"/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400" dirty="0" err="1"/>
              <a:t>Medecins</a:t>
            </a:r>
            <a:r>
              <a:rPr lang="fr-FR" sz="1400" dirty="0"/>
              <a:t>/</a:t>
            </a:r>
            <a:r>
              <a:rPr lang="fr-FR" sz="1400" dirty="0" err="1"/>
              <a:t>hab</a:t>
            </a:r>
            <a:r>
              <a:rPr lang="fr-FR" sz="1400" dirty="0"/>
              <a:t> (+)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400" dirty="0" err="1"/>
              <a:t>Tx</a:t>
            </a:r>
            <a:r>
              <a:rPr lang="fr-FR" sz="1400" dirty="0"/>
              <a:t> de pauvreté à 60% du revenu médian (+)</a:t>
            </a:r>
          </a:p>
          <a:p>
            <a:r>
              <a:rPr lang="fr-FR" sz="1400" u="sng" dirty="0"/>
              <a:t>Block </a:t>
            </a:r>
            <a:r>
              <a:rPr lang="fr-FR" sz="1400" u="sng" dirty="0" err="1"/>
              <a:t>Environment</a:t>
            </a:r>
            <a:r>
              <a:rPr lang="fr-FR" sz="1400" u="sng" dirty="0"/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400" dirty="0"/>
              <a:t>Air PM25 (+)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400" dirty="0"/>
              <a:t>DJU froid (+)</a:t>
            </a:r>
          </a:p>
          <a:p>
            <a:r>
              <a:rPr lang="fr-FR" sz="1400" u="sng" dirty="0"/>
              <a:t>Block Animals: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400" dirty="0"/>
              <a:t>AMR animaux de production C3G (+)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400" dirty="0"/>
              <a:t>AMR animaux de compagnie amoxicilline (-)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400" dirty="0"/>
              <a:t>Densité de volailles (+)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400" dirty="0"/>
              <a:t>Nb de vetos par chevaux (+)</a:t>
            </a:r>
          </a:p>
        </p:txBody>
      </p:sp>
    </p:spTree>
    <p:extLst>
      <p:ext uri="{BB962C8B-B14F-4D97-AF65-F5344CB8AC3E}">
        <p14:creationId xmlns:p14="http://schemas.microsoft.com/office/powerpoint/2010/main" val="4259683073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300</TotalTime>
  <Words>649</Words>
  <Application>Microsoft Office PowerPoint</Application>
  <PresentationFormat>Grand écran</PresentationFormat>
  <Paragraphs>116</Paragraphs>
  <Slides>19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19</vt:i4>
      </vt:variant>
    </vt:vector>
  </HeadingPairs>
  <TitlesOfParts>
    <vt:vector size="23" baseType="lpstr">
      <vt:lpstr>Arial</vt:lpstr>
      <vt:lpstr>Calibri</vt:lpstr>
      <vt:lpstr>Calibri Light</vt:lpstr>
      <vt:lpstr>Thème Office</vt:lpstr>
      <vt:lpstr>Présentation des résultats</vt:lpstr>
      <vt:lpstr>AMR Ville FQ</vt:lpstr>
      <vt:lpstr>Graphe du modèle</vt:lpstr>
      <vt:lpstr>Présentation PowerPoint</vt:lpstr>
      <vt:lpstr>AMR EHPAD FQ</vt:lpstr>
      <vt:lpstr>Graphe du modèle</vt:lpstr>
      <vt:lpstr>Présentation PowerPoint</vt:lpstr>
      <vt:lpstr>AMR ES FQ</vt:lpstr>
      <vt:lpstr>Graphe du modèle</vt:lpstr>
      <vt:lpstr>Présentation PowerPoint</vt:lpstr>
      <vt:lpstr>AMR EHPAD C3G</vt:lpstr>
      <vt:lpstr>Graphe du modèle</vt:lpstr>
      <vt:lpstr>Présentation PowerPoint</vt:lpstr>
      <vt:lpstr>AMR ES C3G</vt:lpstr>
      <vt:lpstr>Graphe du modèle</vt:lpstr>
      <vt:lpstr>Présentation PowerPoint</vt:lpstr>
      <vt:lpstr>AMR Ville C3G</vt:lpstr>
      <vt:lpstr>Graphe du modèle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des résultats</dc:title>
  <dc:creator>MARTET Gaspard</dc:creator>
  <cp:lastModifiedBy>MARTET Gaspard</cp:lastModifiedBy>
  <cp:revision>12</cp:revision>
  <dcterms:created xsi:type="dcterms:W3CDTF">2026-07-02T13:10:21Z</dcterms:created>
  <dcterms:modified xsi:type="dcterms:W3CDTF">2026-07-03T13:20:57Z</dcterms:modified>
</cp:coreProperties>
</file>